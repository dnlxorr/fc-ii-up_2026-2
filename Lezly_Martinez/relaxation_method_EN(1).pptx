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7" r:id="rId18"/>
    <p:sldId id="260" r:id="rId7"/>
    <p:sldId id="268" r:id="rId19"/>
    <p:sldId id="262" r:id="rId9"/>
    <p:sldId id="263" r:id="rId10"/>
    <p:sldId id="264" r:id="rId11"/>
    <p:sldId id="269" r:id="rId20"/>
    <p:sldId id="265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51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  <Relationship Id="rId18" Type="http://schemas.openxmlformats.org/officeDocument/2006/relationships/slide" Target="slides/slide12.xml"/>
  <Relationship Id="rId19" Type="http://schemas.openxmlformats.org/officeDocument/2006/relationships/slide" Target="slides/slide13.xml"/>
  <Relationship Id="rId20" Type="http://schemas.openxmlformats.org/officeDocument/2006/relationships/slide" Target="slides/slide14.xml"/>
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1295C"/>
                </a:solidFill>
                <a:latin typeface="Arial"/>
              </a:defRPr>
            </a:pPr>
            <a:r>
              <a:rPr lang="es-CO" sz="1100" b="0" i="0" u="none" strike="noStrike">
                <a:solidFill>
                  <a:srgbClr val="21295C"/>
                </a:solidFill>
                <a:latin typeface="Arial"/>
              </a:rPr>
              <a:t>Residual vs. Iteration (illustrative)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Residual</c:v>
                </c:pt>
              </c:strCache>
            </c:strRef>
          </c:tx>
          <c:spPr>
            <a:ln w="31750" cap="flat">
              <a:solidFill>
                <a:srgbClr val="065A82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100</c:v>
                </c:pt>
                <c:pt idx="1">
                  <c:v>60</c:v>
                </c:pt>
                <c:pt idx="2">
                  <c:v>32</c:v>
                </c:pt>
                <c:pt idx="3">
                  <c:v>16</c:v>
                </c:pt>
                <c:pt idx="4">
                  <c:v>8</c:v>
                </c:pt>
                <c:pt idx="5">
                  <c:v>4</c:v>
                </c:pt>
                <c:pt idx="6">
                  <c:v>1.6</c:v>
                </c:pt>
                <c:pt idx="7">
                  <c:v>0.6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DD4-415A-94A2-F6570793D2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s-CO" sz="1000" b="0" i="0" u="none" strike="noStrike">
                    <a:solidFill>
                      <a:srgbClr val="000000"/>
                    </a:solidFill>
                    <a:latin typeface="Arial"/>
                  </a:rPr>
                  <a:t>Iteration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6"/>
                </a:solidFill>
                <a:latin typeface="Arial"/>
              </a:defRPr>
            </a:pPr>
            <a:endParaRPr lang="es-CO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AE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s-CO" sz="1000" b="0" i="0" u="none" strike="noStrike">
                    <a:solidFill>
                      <a:srgbClr val="000000"/>
                    </a:solidFill>
                    <a:latin typeface="Arial"/>
                  </a:rPr>
                  <a:t>Residual ∆</a:t>
                </a:r>
                <a:r>
                  <a:rPr lang="el-GR" sz="1000" b="0" i="0" u="none" strike="noStrike">
                    <a:solidFill>
                      <a:srgbClr val="000000"/>
                    </a:solidFill>
                    <a:latin typeface="Arial"/>
                  </a:rPr>
                  <a:t>φ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6"/>
                </a:solidFill>
                <a:latin typeface="Arial"/>
              </a:defRPr>
            </a:pPr>
            <a:endParaRPr lang="es-CO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1295C"/>
                </a:solidFill>
                <a:latin typeface="Arial"/>
              </a:defRPr>
            </a:pPr>
            <a:r>
              <a:rPr lang="es-CO" sz="1100" b="0" i="0" u="none" strike="noStrike">
                <a:solidFill>
                  <a:srgbClr val="21295C"/>
                </a:solidFill>
                <a:latin typeface="Arial"/>
              </a:rPr>
              <a:t>Iterations to Converge (illustrative, same tolerance)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Iterations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1295C"/>
                    </a:solidFill>
                    <a:latin typeface="Arial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Jacobi</c:v>
                </c:pt>
                <c:pt idx="1">
                  <c:v>Gauss-Seidel</c:v>
                </c:pt>
                <c:pt idx="2">
                  <c:v>SOR (optimal)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1000</c:v>
                </c:pt>
                <c:pt idx="1">
                  <c:v>500</c:v>
                </c:pt>
                <c:pt idx="2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9CB-44D2-92D9-FCD6E8E2670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6"/>
                </a:solidFill>
                <a:latin typeface="Arial"/>
              </a:defRPr>
            </a:pPr>
            <a:endParaRPr lang="es-CO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AE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s-CO" sz="1000" b="0" i="0" u="none" strike="noStrike">
                    <a:solidFill>
                      <a:srgbClr val="000000"/>
                    </a:solidFill>
                    <a:latin typeface="Arial"/>
                  </a:rPr>
                  <a:t>Iterations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6"/>
                </a:solidFill>
                <a:latin typeface="Arial"/>
              </a:defRPr>
            </a:pPr>
            <a:endParaRPr lang="es-CO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6427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4206240"/>
            <a:ext cx="82296" cy="82296"/>
          </a:xfrm>
          <a:prstGeom prst="ellipse">
            <a:avLst/>
          </a:prstGeom>
          <a:solidFill>
            <a:srgbClr val="1C7293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709160"/>
            <a:ext cx="82296" cy="82296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63840" y="5212080"/>
            <a:ext cx="82296" cy="82296"/>
          </a:xfrm>
          <a:prstGeom prst="ellipse">
            <a:avLst/>
          </a:prstGeom>
          <a:solidFill>
            <a:srgbClr val="1C7293">
              <a:alpha val="8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863840" y="5715000"/>
            <a:ext cx="82296" cy="82296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366760" y="4206240"/>
            <a:ext cx="82296" cy="82296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366760" y="4709160"/>
            <a:ext cx="82296" cy="82296"/>
          </a:xfrm>
          <a:prstGeom prst="ellipse">
            <a:avLst/>
          </a:prstGeom>
          <a:solidFill>
            <a:srgbClr val="1C7293">
              <a:alpha val="8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366760" y="5212080"/>
            <a:ext cx="82296" cy="82296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366760" y="5715000"/>
            <a:ext cx="82296" cy="82296"/>
          </a:xfrm>
          <a:prstGeom prst="ellipse">
            <a:avLst/>
          </a:prstGeom>
          <a:solidFill>
            <a:srgbClr val="1C7293">
              <a:alpha val="8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869680" y="4206240"/>
            <a:ext cx="82296" cy="82296"/>
          </a:xfrm>
          <a:prstGeom prst="ellipse">
            <a:avLst/>
          </a:prstGeom>
          <a:solidFill>
            <a:srgbClr val="1C7293">
              <a:alpha val="8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869680" y="4709160"/>
            <a:ext cx="82296" cy="82296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869680" y="5212080"/>
            <a:ext cx="82296" cy="82296"/>
          </a:xfrm>
          <a:prstGeom prst="ellipse">
            <a:avLst/>
          </a:prstGeom>
          <a:solidFill>
            <a:srgbClr val="1C7293">
              <a:alpha val="8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869680" y="5715000"/>
            <a:ext cx="82296" cy="82296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372600" y="4206240"/>
            <a:ext cx="82296" cy="82296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372600" y="4709160"/>
            <a:ext cx="82296" cy="82296"/>
          </a:xfrm>
          <a:prstGeom prst="ellipse">
            <a:avLst/>
          </a:prstGeom>
          <a:solidFill>
            <a:srgbClr val="1C7293">
              <a:alpha val="8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372600" y="5212080"/>
            <a:ext cx="82296" cy="82296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372600" y="5715000"/>
            <a:ext cx="82296" cy="82296"/>
          </a:xfrm>
          <a:prstGeom prst="ellipse">
            <a:avLst/>
          </a:prstGeom>
          <a:solidFill>
            <a:srgbClr val="1C7293">
              <a:alpha val="8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875520" y="4206240"/>
            <a:ext cx="82296" cy="82296"/>
          </a:xfrm>
          <a:prstGeom prst="ellipse">
            <a:avLst/>
          </a:prstGeom>
          <a:solidFill>
            <a:srgbClr val="1C7293">
              <a:alpha val="8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875520" y="4709160"/>
            <a:ext cx="82296" cy="82296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875520" y="5212080"/>
            <a:ext cx="82296" cy="82296"/>
          </a:xfrm>
          <a:prstGeom prst="ellipse">
            <a:avLst/>
          </a:prstGeom>
          <a:solidFill>
            <a:srgbClr val="1C7293">
              <a:alpha val="8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875520" y="5715000"/>
            <a:ext cx="82296" cy="82296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0378440" y="4206240"/>
            <a:ext cx="82296" cy="82296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0378440" y="4709160"/>
            <a:ext cx="82296" cy="82296"/>
          </a:xfrm>
          <a:prstGeom prst="ellipse">
            <a:avLst/>
          </a:prstGeom>
          <a:solidFill>
            <a:srgbClr val="1C7293">
              <a:alpha val="8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378440" y="5212080"/>
            <a:ext cx="82296" cy="82296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0378440" y="5715000"/>
            <a:ext cx="82296" cy="82296"/>
          </a:xfrm>
          <a:prstGeom prst="ellipse">
            <a:avLst/>
          </a:prstGeom>
          <a:solidFill>
            <a:srgbClr val="1C7293">
              <a:alpha val="80000"/>
            </a:srgbClr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296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6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PHYSICS · NUMERICAL METHODS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2377440"/>
            <a:ext cx="9875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Relaxation Method</a:t>
            </a:r>
            <a:endParaRPr lang="en-US" sz="46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3794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7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equations iteratively, and how we know when to stop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22960" y="4526280"/>
            <a:ext cx="201168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" y="6217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Physics — Relaxation Method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Relaxation Method?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6492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●"/>
            </a:pPr>
            <a:r>
              <a:rPr lang="en-US" sz="1500" dirty="0">
                <a:solidFill>
                  <a:srgbClr val="2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iterative numerical technique for solving boundary value problems, such as Laplace's and Poisson's equations.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●"/>
            </a:pPr>
            <a:r>
              <a:rPr lang="en-US" sz="1500" dirty="0">
                <a:solidFill>
                  <a:srgbClr val="2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from an initial guess and progressively “relaxes” it toward the exact solution.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●"/>
            </a:pPr>
            <a:r>
              <a:rPr lang="en-US" sz="1500" dirty="0">
                <a:solidFill>
                  <a:srgbClr val="2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unknown value is updated using the average of its neighboring values on a discretized grid.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●"/>
            </a:pPr>
            <a:r>
              <a:rPr lang="en-US" sz="1500" dirty="0">
                <a:solidFill>
                  <a:srgbClr val="2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Belongs to the family of iterative solvers: Jacobi, Gauss-Seidel, and Successive Over-Relaxation (SOR).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543800" y="1417320"/>
            <a:ext cx="3273552" cy="3273552"/>
          </a:xfrm>
          <a:prstGeom prst="roundRect">
            <a:avLst>
              <a:gd name="adj" fmla="val 3352"/>
            </a:avLst>
          </a:prstGeom>
          <a:solidFill>
            <a:srgbClr val="F6F9FB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0" y="1737360"/>
            <a:ext cx="2633472" cy="0"/>
          </a:xfrm>
          <a:prstGeom prst="line">
            <a:avLst/>
          </a:prstGeom>
          <a:noFill/>
          <a:ln w="12700">
            <a:solidFill>
              <a:srgbClr val="C7D6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0" y="1737360"/>
            <a:ext cx="0" cy="2633472"/>
          </a:xfrm>
          <a:prstGeom prst="line">
            <a:avLst/>
          </a:prstGeom>
          <a:noFill/>
          <a:ln w="12700">
            <a:solidFill>
              <a:srgbClr val="C7D6D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0" y="2395728"/>
            <a:ext cx="2633472" cy="0"/>
          </a:xfrm>
          <a:prstGeom prst="line">
            <a:avLst/>
          </a:prstGeom>
          <a:noFill/>
          <a:ln w="12700">
            <a:solidFill>
              <a:srgbClr val="C7D6D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22208" y="1737360"/>
            <a:ext cx="0" cy="2633472"/>
          </a:xfrm>
          <a:prstGeom prst="line">
            <a:avLst/>
          </a:prstGeom>
          <a:noFill/>
          <a:ln w="12700">
            <a:solidFill>
              <a:srgbClr val="C7D6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0" y="3054096"/>
            <a:ext cx="2633472" cy="0"/>
          </a:xfrm>
          <a:prstGeom prst="line">
            <a:avLst/>
          </a:prstGeom>
          <a:noFill/>
          <a:ln w="12700">
            <a:solidFill>
              <a:srgbClr val="C7D6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80576" y="1737360"/>
            <a:ext cx="0" cy="2633472"/>
          </a:xfrm>
          <a:prstGeom prst="line">
            <a:avLst/>
          </a:prstGeom>
          <a:noFill/>
          <a:ln w="12700">
            <a:solidFill>
              <a:srgbClr val="C7D6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0" y="3712464"/>
            <a:ext cx="2633472" cy="0"/>
          </a:xfrm>
          <a:prstGeom prst="line">
            <a:avLst/>
          </a:prstGeom>
          <a:noFill/>
          <a:ln w="12700">
            <a:solidFill>
              <a:srgbClr val="C7D6D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838944" y="1737360"/>
            <a:ext cx="0" cy="2633472"/>
          </a:xfrm>
          <a:prstGeom prst="line">
            <a:avLst/>
          </a:prstGeom>
          <a:noFill/>
          <a:ln w="12700">
            <a:solidFill>
              <a:srgbClr val="C7D6D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0" y="4370832"/>
            <a:ext cx="2633472" cy="0"/>
          </a:xfrm>
          <a:prstGeom prst="line">
            <a:avLst/>
          </a:prstGeom>
          <a:noFill/>
          <a:ln w="12700">
            <a:solidFill>
              <a:srgbClr val="C7D6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497312" y="1737360"/>
            <a:ext cx="0" cy="2633472"/>
          </a:xfrm>
          <a:prstGeom prst="line">
            <a:avLst/>
          </a:prstGeom>
          <a:noFill/>
          <a:ln w="12700">
            <a:solidFill>
              <a:srgbClr val="C7D6D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04404" y="1677924"/>
            <a:ext cx="118872" cy="118872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7" name="Shape 15"/>
          <p:cNvSpPr/>
          <p:nvPr/>
        </p:nvSpPr>
        <p:spPr>
          <a:xfrm>
            <a:off x="7804404" y="2336292"/>
            <a:ext cx="118872" cy="118872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8" name="Shape 16"/>
          <p:cNvSpPr/>
          <p:nvPr/>
        </p:nvSpPr>
        <p:spPr>
          <a:xfrm>
            <a:off x="7804404" y="2994660"/>
            <a:ext cx="118872" cy="118872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9" name="Shape 17"/>
          <p:cNvSpPr/>
          <p:nvPr/>
        </p:nvSpPr>
        <p:spPr>
          <a:xfrm>
            <a:off x="7804404" y="3653028"/>
            <a:ext cx="118872" cy="118872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0" name="Shape 18"/>
          <p:cNvSpPr/>
          <p:nvPr/>
        </p:nvSpPr>
        <p:spPr>
          <a:xfrm>
            <a:off x="7804404" y="4311396"/>
            <a:ext cx="118872" cy="118872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1" name="Shape 19"/>
          <p:cNvSpPr/>
          <p:nvPr/>
        </p:nvSpPr>
        <p:spPr>
          <a:xfrm>
            <a:off x="8462772" y="1677924"/>
            <a:ext cx="118872" cy="118872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2" name="Shape 20"/>
          <p:cNvSpPr/>
          <p:nvPr/>
        </p:nvSpPr>
        <p:spPr>
          <a:xfrm>
            <a:off x="8462772" y="2336292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Shape 21"/>
          <p:cNvSpPr/>
          <p:nvPr/>
        </p:nvSpPr>
        <p:spPr>
          <a:xfrm>
            <a:off x="8462772" y="2994660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Shape 22"/>
          <p:cNvSpPr/>
          <p:nvPr/>
        </p:nvSpPr>
        <p:spPr>
          <a:xfrm>
            <a:off x="8462772" y="3653028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Shape 23"/>
          <p:cNvSpPr/>
          <p:nvPr/>
        </p:nvSpPr>
        <p:spPr>
          <a:xfrm>
            <a:off x="8462772" y="4311396"/>
            <a:ext cx="118872" cy="118872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6" name="Shape 24"/>
          <p:cNvSpPr/>
          <p:nvPr/>
        </p:nvSpPr>
        <p:spPr>
          <a:xfrm>
            <a:off x="9121140" y="1677924"/>
            <a:ext cx="118872" cy="118872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7" name="Shape 25"/>
          <p:cNvSpPr/>
          <p:nvPr/>
        </p:nvSpPr>
        <p:spPr>
          <a:xfrm>
            <a:off x="9121140" y="2336292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8" name="Shape 26"/>
          <p:cNvSpPr/>
          <p:nvPr/>
        </p:nvSpPr>
        <p:spPr>
          <a:xfrm>
            <a:off x="9121140" y="2994660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Shape 27"/>
          <p:cNvSpPr/>
          <p:nvPr/>
        </p:nvSpPr>
        <p:spPr>
          <a:xfrm>
            <a:off x="9121140" y="3653028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Shape 28"/>
          <p:cNvSpPr/>
          <p:nvPr/>
        </p:nvSpPr>
        <p:spPr>
          <a:xfrm>
            <a:off x="9121140" y="4311396"/>
            <a:ext cx="118872" cy="118872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31" name="Shape 29"/>
          <p:cNvSpPr/>
          <p:nvPr/>
        </p:nvSpPr>
        <p:spPr>
          <a:xfrm>
            <a:off x="9779508" y="1677924"/>
            <a:ext cx="118872" cy="118872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32" name="Shape 30"/>
          <p:cNvSpPr/>
          <p:nvPr/>
        </p:nvSpPr>
        <p:spPr>
          <a:xfrm>
            <a:off x="9779508" y="2336292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3" name="Shape 31"/>
          <p:cNvSpPr/>
          <p:nvPr/>
        </p:nvSpPr>
        <p:spPr>
          <a:xfrm>
            <a:off x="9779508" y="2994660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4" name="Shape 32"/>
          <p:cNvSpPr/>
          <p:nvPr/>
        </p:nvSpPr>
        <p:spPr>
          <a:xfrm>
            <a:off x="9779508" y="3653028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5" name="Shape 33"/>
          <p:cNvSpPr/>
          <p:nvPr/>
        </p:nvSpPr>
        <p:spPr>
          <a:xfrm>
            <a:off x="9779508" y="4311396"/>
            <a:ext cx="118872" cy="118872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36" name="Shape 34"/>
          <p:cNvSpPr/>
          <p:nvPr/>
        </p:nvSpPr>
        <p:spPr>
          <a:xfrm>
            <a:off x="10437876" y="1677924"/>
            <a:ext cx="118872" cy="118872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37" name="Shape 35"/>
          <p:cNvSpPr/>
          <p:nvPr/>
        </p:nvSpPr>
        <p:spPr>
          <a:xfrm>
            <a:off x="10437876" y="2336292"/>
            <a:ext cx="118872" cy="118872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38" name="Shape 36"/>
          <p:cNvSpPr/>
          <p:nvPr/>
        </p:nvSpPr>
        <p:spPr>
          <a:xfrm>
            <a:off x="10437876" y="2994660"/>
            <a:ext cx="118872" cy="118872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39" name="Shape 37"/>
          <p:cNvSpPr/>
          <p:nvPr/>
        </p:nvSpPr>
        <p:spPr>
          <a:xfrm>
            <a:off x="10437876" y="3653028"/>
            <a:ext cx="118872" cy="118872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40" name="Shape 38"/>
          <p:cNvSpPr/>
          <p:nvPr/>
        </p:nvSpPr>
        <p:spPr>
          <a:xfrm>
            <a:off x="10437876" y="4311396"/>
            <a:ext cx="118872" cy="118872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7543800" y="48280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Discretized grid: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571232" y="5129784"/>
            <a:ext cx="146304" cy="146304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7818120" y="508406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(fixed)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571232" y="5404104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7818120" y="535838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Interior (updated)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548640" y="644652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Physics — Relaxation Method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It Used For?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AEF"/>
            </a:solidFill>
            <a:prstDash val="solid"/>
          </a:ln>
          <a:effectLst>
            <a:outerShdw blurRad="76200" dist="25400" dir="5400000" algn="bl" rotWithShape="0">
              <a:srgbClr val="9BB3C2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1566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9156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74650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Electrostatics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10312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 electric potential from a given charge distribution (Laplace / Poisson).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1600200"/>
            <a:ext cx="53949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AEF"/>
            </a:solidFill>
            <a:prstDash val="solid"/>
          </a:ln>
          <a:effectLst>
            <a:outerShdw blurRad="76200" dist="25400" dir="5400000" algn="bl" rotWithShape="0">
              <a:srgbClr val="9BB3C2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65392" y="1915668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65392" y="19156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269480" y="174650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Heat diffusion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269480" y="210312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steady-state temperature fields in conductive media.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53949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AEF"/>
            </a:solidFill>
            <a:prstDash val="solid"/>
          </a:ln>
          <a:effectLst>
            <a:outerShdw blurRad="76200" dist="25400" dir="5400000" algn="bl" rotWithShape="0">
              <a:srgbClr val="9BB3C2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337870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4672" y="33787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320954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Fluid flow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356616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Stream-function and vorticity fields in incompressible flow problems.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09360" y="3063240"/>
            <a:ext cx="53949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AEF"/>
            </a:solidFill>
            <a:prstDash val="solid"/>
          </a:ln>
          <a:effectLst>
            <a:outerShdw blurRad="76200" dist="25400" dir="5400000" algn="bl" rotWithShape="0">
              <a:srgbClr val="9BB3C2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65392" y="3378708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65392" y="33787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269480" y="320954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 sparse PDE systems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269480" y="356616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direct matrix inversion is computationally too costly.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4652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Physics — Relaxation Method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Is It Executed?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0120" y="1856232"/>
            <a:ext cx="0" cy="3584448"/>
          </a:xfrm>
          <a:prstGeom prst="line">
            <a:avLst/>
          </a:prstGeom>
          <a:noFill/>
          <a:ln w="25400">
            <a:solidFill>
              <a:srgbClr val="CBDC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" y="1600200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04088" y="1600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463040" y="1545336"/>
            <a:ext cx="9692640" cy="621792"/>
          </a:xfrm>
          <a:prstGeom prst="roundRect">
            <a:avLst>
              <a:gd name="adj" fmla="val 11765"/>
            </a:avLst>
          </a:prstGeom>
          <a:solidFill>
            <a:srgbClr val="F6F9F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691640" y="1545336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Discretize the domain into a grid of points.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04088" y="2496312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04088" y="24963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463040" y="2441448"/>
            <a:ext cx="9692640" cy="621792"/>
          </a:xfrm>
          <a:prstGeom prst="roundRect">
            <a:avLst>
              <a:gd name="adj" fmla="val 11765"/>
            </a:avLst>
          </a:prstGeom>
          <a:solidFill>
            <a:srgbClr val="F6F9F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691640" y="2441448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known boundary values; assign an initial guess to interior points.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04088" y="3392424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04088" y="33924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463040" y="3337560"/>
            <a:ext cx="9692640" cy="621792"/>
          </a:xfrm>
          <a:prstGeom prst="roundRect">
            <a:avLst>
              <a:gd name="adj" fmla="val 11765"/>
            </a:avLst>
          </a:prstGeom>
          <a:solidFill>
            <a:srgbClr val="F6F9F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691640" y="33375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 through the grid, updating each point from its neighbors.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04088" y="4288536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04088" y="42885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463040" y="4233672"/>
            <a:ext cx="9692640" cy="621792"/>
          </a:xfrm>
          <a:prstGeom prst="roundRect">
            <a:avLst>
              <a:gd name="adj" fmla="val 11765"/>
            </a:avLst>
          </a:prstGeom>
          <a:solidFill>
            <a:srgbClr val="F6F9F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691640" y="42336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new values to the previous iteration.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704088" y="5184648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04088" y="51846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1463040" y="5129784"/>
            <a:ext cx="9692640" cy="621792"/>
          </a:xfrm>
          <a:prstGeom prst="roundRect">
            <a:avLst>
              <a:gd name="adj" fmla="val 11765"/>
            </a:avLst>
          </a:prstGeom>
          <a:solidFill>
            <a:srgbClr val="F6F9F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691640" y="51297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the change falls below a chosen tolerance ε.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4652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Physics — Relaxation Method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RULES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 Formulas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492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3EA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7335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Jacobi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1168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φnew(i,j) = ¼[φ(i+1,j)+φ(i−1,j)+φ(i,j+1)+φ(i,j−1)]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5059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only values from the previous full sweep.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227832"/>
            <a:ext cx="6492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3EAE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346704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Gauss-Seidel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685032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 average — but neighbors already updated in this sweep are used immediately.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123944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Converges faster than Jacobi with no extra memory.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901184"/>
            <a:ext cx="6492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3EAE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5020056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Successive Over-Relaxation (SOR)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535838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φnew = φold + ω(φGS − φold),  1 &lt; ω &lt; 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5797296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 amplifies the Gauss-Seidel step to accelerate convergence.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680960" y="1554480"/>
            <a:ext cx="3931920" cy="47091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E3EAE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863840" y="1691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5-point stencil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637776" y="2368296"/>
            <a:ext cx="0" cy="868680"/>
          </a:xfrm>
          <a:prstGeom prst="line">
            <a:avLst/>
          </a:prstGeom>
          <a:noFill/>
          <a:ln w="25400">
            <a:solidFill>
              <a:srgbClr val="B9CB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3236976"/>
            <a:ext cx="0" cy="868680"/>
          </a:xfrm>
          <a:prstGeom prst="line">
            <a:avLst/>
          </a:prstGeom>
          <a:noFill/>
          <a:ln w="25400">
            <a:solidFill>
              <a:srgbClr val="B9CB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69096" y="3236976"/>
            <a:ext cx="868680" cy="0"/>
          </a:xfrm>
          <a:prstGeom prst="line">
            <a:avLst/>
          </a:prstGeom>
          <a:noFill/>
          <a:ln w="25400">
            <a:solidFill>
              <a:srgbClr val="B9CB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37776" y="3236976"/>
            <a:ext cx="868680" cy="0"/>
          </a:xfrm>
          <a:prstGeom prst="line">
            <a:avLst/>
          </a:prstGeom>
          <a:noFill/>
          <a:ln w="25400">
            <a:solidFill>
              <a:srgbClr val="B9CB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90304" y="2889504"/>
            <a:ext cx="347472" cy="347472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290304" y="28895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(i,j)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290304" y="2020824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290304" y="20208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290304" y="3758184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290304" y="3758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421624" y="2889504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421624" y="28895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0158984" y="2889504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158984" y="28895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44652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Physics — Relaxation Method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— THEORY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Does SOR Converge?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107899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2000"/>
              </a:spcAft>
              <a:buSzPct val="100000"/>
              <a:buChar char="●"/>
            </a:pPr>
            <a:r>
              <a:rPr lang="en-US" sz="1600" dirty="0">
                <a:solidFill>
                  <a:srgbClr val="D7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SOR iteration matrix is Tω = (D + ωL)⁻¹ · [(1−ω)D − ωU].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2000"/>
              </a:spcAft>
              <a:buSzPct val="100000"/>
              <a:buChar char="●"/>
            </a:pPr>
            <a:r>
              <a:rPr lang="en-US" sz="1600" dirty="0">
                <a:solidFill>
                  <a:srgbClr val="D7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holds if and only if its spectral radius ρ(Tω) &lt; 1 (the largest eigenvalue magnitude).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2000"/>
              </a:spcAft>
              <a:buSzPct val="100000"/>
              <a:buChar char="●"/>
            </a:pPr>
            <a:r>
              <a:rPr lang="en-US" sz="1600" dirty="0">
                <a:solidFill>
                  <a:srgbClr val="D7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Kahan's theorem: SOR can only converge if 0 &lt; ω &lt; 2 — necessary for any matrix A.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2000"/>
              </a:spcAft>
              <a:buSzPct val="100000"/>
              <a:buChar char="●"/>
            </a:pPr>
            <a:r>
              <a:rPr lang="en-US" sz="1600" dirty="0">
                <a:solidFill>
                  <a:srgbClr val="D7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Ostrowski–Reich theorem: if A is symmetric positive-definite, 0 &lt; ω &lt; 2 is also sufficient.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Physics — Relaxation Method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— HOW IT'S EVALUATED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Is Convergence Evaluated?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630936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500"/>
              </a:spcAft>
              <a:buSzPct val="100000"/>
              <a:buChar char="●"/>
            </a:pPr>
            <a:r>
              <a:rPr lang="en-US" sz="1400" dirty="0">
                <a:solidFill>
                  <a:srgbClr val="2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the iteration when max|φnew − φold| &lt; ε, for a chosen tolerance ε.</a:t>
            </a:r>
            <a:endParaRPr lang="en-US" sz="1400" dirty="0"/>
          </a:p>
          <a:p>
            <a:pPr marL="228600" indent="-228600">
              <a:lnSpc>
                <a:spcPct val="108000"/>
              </a:lnSpc>
              <a:spcAft>
                <a:spcPts val="1500"/>
              </a:spcAft>
              <a:buSzPct val="100000"/>
              <a:buChar char="●"/>
            </a:pPr>
            <a:r>
              <a:rPr lang="en-US" sz="1400" dirty="0">
                <a:solidFill>
                  <a:srgbClr val="2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the residual ∆φ = max|φnew − φold| after every full sweep.</a:t>
            </a:r>
            <a:endParaRPr lang="en-US" sz="1400" dirty="0"/>
          </a:p>
          <a:p>
            <a:pPr marL="228600" indent="-228600">
              <a:lnSpc>
                <a:spcPct val="108000"/>
              </a:lnSpc>
              <a:spcAft>
                <a:spcPts val="1500"/>
              </a:spcAft>
              <a:buSzPct val="100000"/>
              <a:buChar char="●"/>
            </a:pPr>
            <a:r>
              <a:rPr lang="en-US" sz="1400" dirty="0">
                <a:solidFill>
                  <a:srgbClr val="2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smaller spectral radius ρ(Tω) (previous slide) means fewer sweeps to reach ε.</a:t>
            </a:r>
            <a:endParaRPr lang="en-US" sz="1400" dirty="0"/>
          </a:p>
          <a:p>
            <a:pPr marL="228600" indent="-228600">
              <a:lnSpc>
                <a:spcPct val="108000"/>
              </a:lnSpc>
              <a:spcAft>
                <a:spcPts val="1500"/>
              </a:spcAft>
              <a:buSzPct val="100000"/>
              <a:buChar char="●"/>
            </a:pPr>
            <a:r>
              <a:rPr lang="en-US" sz="1400" dirty="0">
                <a:solidFill>
                  <a:srgbClr val="2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practice, the residual is plotted against iteration number to confirm a decreasing trend.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7086600" y="1508760"/>
          <a:ext cx="45262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7086600" y="480060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curve — shape of a well-behaved convergence, not measured data.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4652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Physics — Relaxation Method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— COMPARISON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Affects Convergence Speed?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630936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●"/>
            </a:pPr>
            <a:r>
              <a:rPr lang="en-US" sz="1400" dirty="0">
                <a:solidFill>
                  <a:srgbClr val="2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size: more points N means more iterations — roughly O(N²) for Jacobi.</a:t>
            </a:r>
            <a:endParaRPr lang="en-US" sz="1400" dirty="0"/>
          </a:p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●"/>
            </a:pPr>
            <a:r>
              <a:rPr lang="en-US" sz="1400" dirty="0">
                <a:solidFill>
                  <a:srgbClr val="2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choice: Gauss-Seidel converges about twice as fast as Jacobi.</a:t>
            </a:r>
            <a:endParaRPr lang="en-US" sz="1400" dirty="0"/>
          </a:p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●"/>
            </a:pPr>
            <a:r>
              <a:rPr lang="en-US" sz="1400" dirty="0">
                <a:solidFill>
                  <a:srgbClr val="2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 with an optimal relaxation parameter ωopt converges fastest of the three.</a:t>
            </a:r>
            <a:endParaRPr lang="en-US" sz="1400" dirty="0"/>
          </a:p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●"/>
            </a:pPr>
            <a:r>
              <a:rPr lang="en-US" sz="1400" dirty="0">
                <a:solidFill>
                  <a:srgbClr val="2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ω poorly can erase most of SOR's advantage.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7086600" y="1600200"/>
          <a:ext cx="452628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7086600" y="534924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relative behavior, not values from a specific run.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4652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Physics — Relaxation Method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EXAMPLE — 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Converged Temperatures &amp; 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3566160"/>
          </a:xfrm>
          <a:prstGeom prst="roundRect">
            <a:avLst>
              <a:gd name="adj" fmla="val 2564"/>
            </a:avLst>
          </a:prstGeom>
          <a:solidFill>
            <a:srgbClr val="27336B"/>
          </a:solidFill>
          <a:ln/>
        </p:spPr>
      </p:sp>
      <p:sp>
        <p:nvSpPr>
          <p:cNvPr id="5" name="Shape 3"/>
          <p:cNvSpPr/>
          <p:nvPr/>
        </p:nvSpPr>
        <p:spPr>
          <a:xfrm>
            <a:off x="6263640" y="1691640"/>
            <a:ext cx="5349240" cy="3566160"/>
          </a:xfrm>
          <a:prstGeom prst="roundRect">
            <a:avLst>
              <a:gd name="adj" fmla="val 2564"/>
            </a:avLst>
          </a:prstGeom>
          <a:solidFill>
            <a:srgbClr val="27336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745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FE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Converged Result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537960" y="18745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A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286000"/>
            <a:ext cx="4800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D7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= T3 = 42.86 °C  (nodes nearest the hot edge)</a:t>
            </a:r>
            <a:endParaRPr lang="en-US" sz="12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D7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 = T6 = 18.75 °C,   T5 = 25.00 °C  (center, exact value)</a:t>
            </a:r>
            <a:endParaRPr lang="en-US" sz="12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D7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 = T9 = 7.14 °C  (nodes nearest the cold edge)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286000"/>
            <a:ext cx="4800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D7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Relaxation trades one big matrix solve for many cheap, local updates.</a:t>
            </a:r>
            <a:endParaRPr lang="en-US" sz="12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D7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 with a well-chosen ω converges far faster than plain Gauss-Seidel.</a:t>
            </a:r>
            <a:endParaRPr lang="en-US" sz="12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D7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is not guaranteed — it depends on ω and on the structure of 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5532120"/>
            <a:ext cx="1106424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56692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7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update rule, implemented in Python, reproduces this result exactly — see the accompanying code.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4652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Physics — Relaxation Method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EXAMPLE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Heat Conduction in a Plate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6492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●"/>
            </a:pPr>
            <a:r>
              <a:rPr lang="en-US" sz="1500" dirty="0">
                <a:solidFill>
                  <a:srgbClr val="2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square plate of side L, in steady state (no heat sources, ∂T/∂t = 0).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●"/>
            </a:pPr>
            <a:r>
              <a:rPr lang="en-US" sz="1500" dirty="0">
                <a:solidFill>
                  <a:srgbClr val="2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satisfies Laplace’s equation: ∂²T/∂x² + ∂²T/∂y² = 0.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●"/>
            </a:pPr>
            <a:r>
              <a:rPr lang="en-US" sz="1500" dirty="0">
                <a:solidFill>
                  <a:srgbClr val="2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conditions: top edge held at 100 °C, the other three edges at 0 °C.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●"/>
            </a:pPr>
            <a:r>
              <a:rPr lang="en-US" sz="1500" dirty="0">
                <a:solidFill>
                  <a:srgbClr val="2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step h = L/4 → 9 interior nodes (unknown temperatures) to solve for.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543800" y="1417320"/>
            <a:ext cx="3273552" cy="3273552"/>
          </a:xfrm>
          <a:prstGeom prst="roundRect">
            <a:avLst>
              <a:gd name="adj" fmla="val 3352"/>
            </a:avLst>
          </a:prstGeom>
          <a:solidFill>
            <a:srgbClr val="F6F9FB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0" y="1737360"/>
            <a:ext cx="2633472" cy="0"/>
          </a:xfrm>
          <a:prstGeom prst="line">
            <a:avLst/>
          </a:prstGeom>
          <a:noFill/>
          <a:ln w="12700">
            <a:solidFill>
              <a:srgbClr val="C7D6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0" y="1737360"/>
            <a:ext cx="0" cy="2633472"/>
          </a:xfrm>
          <a:prstGeom prst="line">
            <a:avLst/>
          </a:prstGeom>
          <a:noFill/>
          <a:ln w="12700">
            <a:solidFill>
              <a:srgbClr val="C7D6D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0" y="2395728"/>
            <a:ext cx="2633472" cy="0"/>
          </a:xfrm>
          <a:prstGeom prst="line">
            <a:avLst/>
          </a:prstGeom>
          <a:noFill/>
          <a:ln w="12700">
            <a:solidFill>
              <a:srgbClr val="C7D6D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22208" y="1737360"/>
            <a:ext cx="0" cy="2633472"/>
          </a:xfrm>
          <a:prstGeom prst="line">
            <a:avLst/>
          </a:prstGeom>
          <a:noFill/>
          <a:ln w="12700">
            <a:solidFill>
              <a:srgbClr val="C7D6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0" y="3054096"/>
            <a:ext cx="2633472" cy="0"/>
          </a:xfrm>
          <a:prstGeom prst="line">
            <a:avLst/>
          </a:prstGeom>
          <a:noFill/>
          <a:ln w="12700">
            <a:solidFill>
              <a:srgbClr val="C7D6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80576" y="1737360"/>
            <a:ext cx="0" cy="2633472"/>
          </a:xfrm>
          <a:prstGeom prst="line">
            <a:avLst/>
          </a:prstGeom>
          <a:noFill/>
          <a:ln w="12700">
            <a:solidFill>
              <a:srgbClr val="C7D6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0" y="3712464"/>
            <a:ext cx="2633472" cy="0"/>
          </a:xfrm>
          <a:prstGeom prst="line">
            <a:avLst/>
          </a:prstGeom>
          <a:noFill/>
          <a:ln w="12700">
            <a:solidFill>
              <a:srgbClr val="C7D6D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838944" y="1737360"/>
            <a:ext cx="0" cy="2633472"/>
          </a:xfrm>
          <a:prstGeom prst="line">
            <a:avLst/>
          </a:prstGeom>
          <a:noFill/>
          <a:ln w="12700">
            <a:solidFill>
              <a:srgbClr val="C7D6D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0" y="4370832"/>
            <a:ext cx="2633472" cy="0"/>
          </a:xfrm>
          <a:prstGeom prst="line">
            <a:avLst/>
          </a:prstGeom>
          <a:noFill/>
          <a:ln w="12700">
            <a:solidFill>
              <a:srgbClr val="C7D6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497312" y="1737360"/>
            <a:ext cx="0" cy="2633472"/>
          </a:xfrm>
          <a:prstGeom prst="line">
            <a:avLst/>
          </a:prstGeom>
          <a:noFill/>
          <a:ln w="12700">
            <a:solidFill>
              <a:srgbClr val="C7D6D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04404" y="1677924"/>
            <a:ext cx="118872" cy="118872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7" name="Shape 15"/>
          <p:cNvSpPr/>
          <p:nvPr/>
        </p:nvSpPr>
        <p:spPr>
          <a:xfrm>
            <a:off x="7804404" y="2336292"/>
            <a:ext cx="118872" cy="118872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8" name="Shape 16"/>
          <p:cNvSpPr/>
          <p:nvPr/>
        </p:nvSpPr>
        <p:spPr>
          <a:xfrm>
            <a:off x="7804404" y="2994660"/>
            <a:ext cx="118872" cy="118872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9" name="Shape 17"/>
          <p:cNvSpPr/>
          <p:nvPr/>
        </p:nvSpPr>
        <p:spPr>
          <a:xfrm>
            <a:off x="7804404" y="3653028"/>
            <a:ext cx="118872" cy="118872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0" name="Shape 18"/>
          <p:cNvSpPr/>
          <p:nvPr/>
        </p:nvSpPr>
        <p:spPr>
          <a:xfrm>
            <a:off x="7804404" y="4311396"/>
            <a:ext cx="118872" cy="118872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1" name="Shape 19"/>
          <p:cNvSpPr/>
          <p:nvPr/>
        </p:nvSpPr>
        <p:spPr>
          <a:xfrm>
            <a:off x="8462772" y="1677924"/>
            <a:ext cx="118872" cy="118872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2" name="Shape 20"/>
          <p:cNvSpPr/>
          <p:nvPr/>
        </p:nvSpPr>
        <p:spPr>
          <a:xfrm>
            <a:off x="8462772" y="2336292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Shape 21"/>
          <p:cNvSpPr/>
          <p:nvPr/>
        </p:nvSpPr>
        <p:spPr>
          <a:xfrm>
            <a:off x="8462772" y="2994660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Shape 22"/>
          <p:cNvSpPr/>
          <p:nvPr/>
        </p:nvSpPr>
        <p:spPr>
          <a:xfrm>
            <a:off x="8462772" y="3653028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Shape 23"/>
          <p:cNvSpPr/>
          <p:nvPr/>
        </p:nvSpPr>
        <p:spPr>
          <a:xfrm>
            <a:off x="8462772" y="4311396"/>
            <a:ext cx="118872" cy="118872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6" name="Shape 24"/>
          <p:cNvSpPr/>
          <p:nvPr/>
        </p:nvSpPr>
        <p:spPr>
          <a:xfrm>
            <a:off x="9121140" y="1677924"/>
            <a:ext cx="118872" cy="118872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7" name="Shape 25"/>
          <p:cNvSpPr/>
          <p:nvPr/>
        </p:nvSpPr>
        <p:spPr>
          <a:xfrm>
            <a:off x="9121140" y="2336292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8" name="Shape 26"/>
          <p:cNvSpPr/>
          <p:nvPr/>
        </p:nvSpPr>
        <p:spPr>
          <a:xfrm>
            <a:off x="9121140" y="2994660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Shape 27"/>
          <p:cNvSpPr/>
          <p:nvPr/>
        </p:nvSpPr>
        <p:spPr>
          <a:xfrm>
            <a:off x="9121140" y="3653028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Shape 28"/>
          <p:cNvSpPr/>
          <p:nvPr/>
        </p:nvSpPr>
        <p:spPr>
          <a:xfrm>
            <a:off x="9121140" y="4311396"/>
            <a:ext cx="118872" cy="118872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31" name="Shape 29"/>
          <p:cNvSpPr/>
          <p:nvPr/>
        </p:nvSpPr>
        <p:spPr>
          <a:xfrm>
            <a:off x="9779508" y="1677924"/>
            <a:ext cx="118872" cy="118872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32" name="Shape 30"/>
          <p:cNvSpPr/>
          <p:nvPr/>
        </p:nvSpPr>
        <p:spPr>
          <a:xfrm>
            <a:off x="9779508" y="2336292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3" name="Shape 31"/>
          <p:cNvSpPr/>
          <p:nvPr/>
        </p:nvSpPr>
        <p:spPr>
          <a:xfrm>
            <a:off x="9779508" y="2994660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4" name="Shape 32"/>
          <p:cNvSpPr/>
          <p:nvPr/>
        </p:nvSpPr>
        <p:spPr>
          <a:xfrm>
            <a:off x="9779508" y="3653028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5" name="Shape 33"/>
          <p:cNvSpPr/>
          <p:nvPr/>
        </p:nvSpPr>
        <p:spPr>
          <a:xfrm>
            <a:off x="9779508" y="4311396"/>
            <a:ext cx="118872" cy="118872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36" name="Shape 34"/>
          <p:cNvSpPr/>
          <p:nvPr/>
        </p:nvSpPr>
        <p:spPr>
          <a:xfrm>
            <a:off x="10437876" y="1677924"/>
            <a:ext cx="118872" cy="118872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37" name="Shape 35"/>
          <p:cNvSpPr/>
          <p:nvPr/>
        </p:nvSpPr>
        <p:spPr>
          <a:xfrm>
            <a:off x="10437876" y="2336292"/>
            <a:ext cx="118872" cy="118872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38" name="Shape 36"/>
          <p:cNvSpPr/>
          <p:nvPr/>
        </p:nvSpPr>
        <p:spPr>
          <a:xfrm>
            <a:off x="10437876" y="2994660"/>
            <a:ext cx="118872" cy="118872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39" name="Shape 37"/>
          <p:cNvSpPr/>
          <p:nvPr/>
        </p:nvSpPr>
        <p:spPr>
          <a:xfrm>
            <a:off x="10437876" y="3653028"/>
            <a:ext cx="118872" cy="118872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40" name="Shape 38"/>
          <p:cNvSpPr/>
          <p:nvPr/>
        </p:nvSpPr>
        <p:spPr>
          <a:xfrm>
            <a:off x="10437876" y="4311396"/>
            <a:ext cx="118872" cy="118872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7543800" y="48280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Discretized grid: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571232" y="5129784"/>
            <a:ext cx="146304" cy="146304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7818120" y="508406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(fixed)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571232" y="5404104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7818120" y="535838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Interior (updated)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548640" y="644652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Physics — Relaxation Method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FORMULATION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 in Matrix Form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492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3EA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7335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Matrix splitting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1168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D + L + U   (diagonal, strictly lower, strictly upper)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5059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the coefficient matrix to isolate each update direction.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227832"/>
            <a:ext cx="6492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3EAE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346704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 — matrix form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685032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 + ωL) x(k+1) = [(1−ω)D − ωU] x(k) + ωb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123944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+ ωL is lower triangular → x(k+1) solved by forward substitution.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901184"/>
            <a:ext cx="6492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3EAE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5020056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Component-wise formula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535838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xi(k+1) = (1−ω)xi(k) + (ω/aii)[bi − Σ(j&lt;i) aij·xj(k+1) − Σ(j&gt;i) aij·xj(k)]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5797296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coordinate at a time, i = 1, 2, …, n.  ω = 1 recovers Gauss-Seidel exactly.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680960" y="1554480"/>
            <a:ext cx="3931920" cy="47091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E3EAE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863840" y="1691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5-point stencil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637776" y="2368296"/>
            <a:ext cx="0" cy="868680"/>
          </a:xfrm>
          <a:prstGeom prst="line">
            <a:avLst/>
          </a:prstGeom>
          <a:noFill/>
          <a:ln w="25400">
            <a:solidFill>
              <a:srgbClr val="B9CB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3236976"/>
            <a:ext cx="0" cy="868680"/>
          </a:xfrm>
          <a:prstGeom prst="line">
            <a:avLst/>
          </a:prstGeom>
          <a:noFill/>
          <a:ln w="25400">
            <a:solidFill>
              <a:srgbClr val="B9CB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69096" y="3236976"/>
            <a:ext cx="868680" cy="0"/>
          </a:xfrm>
          <a:prstGeom prst="line">
            <a:avLst/>
          </a:prstGeom>
          <a:noFill/>
          <a:ln w="25400">
            <a:solidFill>
              <a:srgbClr val="B9CB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37776" y="3236976"/>
            <a:ext cx="868680" cy="0"/>
          </a:xfrm>
          <a:prstGeom prst="line">
            <a:avLst/>
          </a:prstGeom>
          <a:noFill/>
          <a:ln w="25400">
            <a:solidFill>
              <a:srgbClr val="B9CB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90304" y="2889504"/>
            <a:ext cx="347472" cy="347472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290304" y="28895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(i,j)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290304" y="2020824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290304" y="20208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290304" y="3758184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290304" y="3758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421624" y="2889504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421624" y="28895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0158984" y="2889504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158984" y="28895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44652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Physics — Relaxation Method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EXAMPLE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Applying SOR to the Plate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0120" y="1856232"/>
            <a:ext cx="0" cy="3584448"/>
          </a:xfrm>
          <a:prstGeom prst="line">
            <a:avLst/>
          </a:prstGeom>
          <a:noFill/>
          <a:ln w="25400">
            <a:solidFill>
              <a:srgbClr val="CBDC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" y="1600200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04088" y="1600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463040" y="1545336"/>
            <a:ext cx="9692640" cy="621792"/>
          </a:xfrm>
          <a:prstGeom prst="roundRect">
            <a:avLst>
              <a:gd name="adj" fmla="val 11765"/>
            </a:avLst>
          </a:prstGeom>
          <a:solidFill>
            <a:srgbClr val="F6F9F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691640" y="1545336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rule per node: Ti(k+1) = Ti(k) + ω(TiGS − Ti(k)),  TiGS = ¼(sum of 4 neighbors).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04088" y="2496312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04088" y="24963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463040" y="2441448"/>
            <a:ext cx="9692640" cy="621792"/>
          </a:xfrm>
          <a:prstGeom prst="roundRect">
            <a:avLst>
              <a:gd name="adj" fmla="val 11765"/>
            </a:avLst>
          </a:prstGeom>
          <a:solidFill>
            <a:srgbClr val="F6F9F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691640" y="2441448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guess T = 0 at the 9 interior nodes. Boundaries fixed: top = 100 °C, other 3 edges = 0 °C.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04088" y="3392424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04088" y="33924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463040" y="3337560"/>
            <a:ext cx="9692640" cy="621792"/>
          </a:xfrm>
          <a:prstGeom prst="roundRect">
            <a:avLst>
              <a:gd name="adj" fmla="val 11765"/>
            </a:avLst>
          </a:prstGeom>
          <a:solidFill>
            <a:srgbClr val="F6F9F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691640" y="33375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 node by node (Gauss-Seidel order) with ω = 1.5, reusing updated neighbors immediately.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04088" y="4288536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04088" y="42885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463040" y="4233672"/>
            <a:ext cx="9692640" cy="621792"/>
          </a:xfrm>
          <a:prstGeom prst="roundRect">
            <a:avLst>
              <a:gd name="adj" fmla="val 11765"/>
            </a:avLst>
          </a:prstGeom>
          <a:solidFill>
            <a:srgbClr val="F6F9F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691640" y="42336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center node T5, iteration 1: T5GS = ¼(65.6+14.1+14.1+0) = 23.4 → T5 = 35.2 °C.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704088" y="5184648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04088" y="51846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1463040" y="5129784"/>
            <a:ext cx="9692640" cy="621792"/>
          </a:xfrm>
          <a:prstGeom prst="roundRect">
            <a:avLst>
              <a:gd name="adj" fmla="val 11765"/>
            </a:avLst>
          </a:prstGeom>
          <a:solidFill>
            <a:srgbClr val="F6F9F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691640" y="51297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 across iterations (ω=1.5): 0 → 35.16 → 29.00 → 24.72 → 23.09 → 25.27 → 25.29 → … → 25.00 °C.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4652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Physics — Relaxation Method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2785</TotalTime>
  <Words>852</Words>
  <Application>Microsoft Office PowerPoint</Application>
  <PresentationFormat>Panorámica</PresentationFormat>
  <Paragraphs>134</Paragraphs>
  <Slides>11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Sin nombre</cp:lastModifiedBy>
  <cp:revision>3</cp:revision>
  <dcterms:created xsi:type="dcterms:W3CDTF">2026-09-11T18:54:41Z</dcterms:created>
  <dcterms:modified xsi:type="dcterms:W3CDTF">2026-09-16T13:39:55Z</dcterms:modified>
</cp:coreProperties>
</file>